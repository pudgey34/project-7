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68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</c:v>
                </c:pt>
              </c:strCache>
            </c:strRef>
          </c:tx>
          <c:spPr>
            <a:solidFill>
              <a:srgbClr val="8F1D2C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Hours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F1-4AD2-AA12-A43C6044AB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C2475A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Hours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F1-4AD2-AA12-A43C6044AB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F1D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AE-4978-A4C7-533E7D2BE990}"/>
              </c:ext>
            </c:extLst>
          </c:dPt>
          <c:dPt>
            <c:idx val="1"/>
            <c:bubble3D val="0"/>
            <c:spPr>
              <a:solidFill>
                <a:srgbClr val="D978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AE-4978-A4C7-533E7D2BE990}"/>
              </c:ext>
            </c:extLst>
          </c:dPt>
          <c:dPt>
            <c:idx val="2"/>
            <c:bubble3D val="0"/>
            <c:spPr>
              <a:solidFill>
                <a:srgbClr val="5A0E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AE-4978-A4C7-533E7D2BE990}"/>
              </c:ext>
            </c:extLst>
          </c:dPt>
          <c:dLbls>
            <c:dLbl>
              <c:idx val="0"/>
              <c:layout>
                <c:manualLayout>
                  <c:x val="7.8209277238403457E-2"/>
                  <c:y val="7.3099415204678359E-2"/>
                </c:manualLayout>
              </c:layout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r>
                      <a:rPr lang="en-US" baseline="0" dirty="0"/>
                      <a:t>
</a:t>
                    </a:r>
                    <a:fld id="{D7EB5B32-DB73-4351-8403-D671BD46143B}" type="PERCENTAGE">
                      <a:rPr lang="en-US" baseline="0"/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US" baseline="0" dirty="0"/>
                  </a:p>
                </c:rich>
              </c:tx>
              <c:numFmt formatCode="0.0%" sourceLinked="0"/>
              <c:spPr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7AE-4978-A4C7-533E7D2BE990}"/>
                </c:ext>
              </c:extLst>
            </c:dLbl>
            <c:dLbl>
              <c:idx val="1"/>
              <c:layout>
                <c:manualLayout>
                  <c:x val="-4.0453074433656956E-2"/>
                  <c:y val="-0.12183235867446393"/>
                </c:manualLayout>
              </c:layout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FADEFB00-3C99-4E30-9328-7FCCCBB7E255}" type="PERCENTAGE">
                      <a:rPr lang="en-US" baseline="0" smtClean="0"/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CA"/>
                  </a:p>
                </c:rich>
              </c:tx>
              <c:numFmt formatCode="0.0%" sourceLinked="0"/>
              <c:spPr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7AE-4978-A4C7-533E7D2BE990}"/>
                </c:ext>
              </c:extLst>
            </c:dLbl>
            <c:dLbl>
              <c:idx val="2"/>
              <c:layout>
                <c:manualLayout>
                  <c:x val="2.157497303128366E-2"/>
                  <c:y val="-0.12183235867446393"/>
                </c:manualLayout>
              </c:layout>
              <c:tx>
                <c:rich>
                  <a:bodyPr/>
                  <a:lstStyle/>
                  <a:p>
                    <a:pPr>
                      <a:defRPr sz="1200" b="0" i="0" u="none" strike="noStrike">
                        <a:solidFill>
                          <a:srgbClr val="000000"/>
                        </a:solidFill>
                        <a:latin typeface="Arial"/>
                      </a:defRPr>
                    </a:pPr>
                    <a:fld id="{3F2BA583-DA13-41EC-AD0C-E0FEF162910D}" type="PERCENTAGE">
                      <a:rPr lang="en-US" baseline="0" smtClean="0"/>
                      <a:pPr>
                        <a:defRPr sz="1200" b="0" i="0" u="none" strike="noStrike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t>[PERCENTAGE]</a:t>
                    </a:fld>
                    <a:endParaRPr lang="en-CA"/>
                  </a:p>
                </c:rich>
              </c:tx>
              <c:numFmt formatCode="0.0%" sourceLinked="0"/>
              <c:spPr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7AE-4978-A4C7-533E7D2BE99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Passed</c:v>
                </c:pt>
                <c:pt idx="1">
                  <c:v>Blocked</c:v>
                </c:pt>
                <c:pt idx="2">
                  <c:v>Failed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7AE-4978-A4C7-533E7D2BE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430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31520"/>
            <a:ext cx="10881360" cy="5394960"/>
          </a:xfrm>
          <a:prstGeom prst="roundRect">
            <a:avLst>
              <a:gd name="adj" fmla="val 1356"/>
            </a:avLst>
          </a:prstGeom>
          <a:solidFill>
            <a:schemeClr val="bg1">
              <a:alpha val="92000"/>
            </a:schemeClr>
          </a:solidFill>
          <a:ln w="12700">
            <a:solidFill>
              <a:srgbClr val="EFC0C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1097280" y="17373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7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2514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97280" y="309067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Wave-Based Survival Game (Godot 4)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Stephen Wilton | Date: April 16,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972800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Vampire Survivors/Brotato-style survival game with action-oriented gameplay, scaling difficulty, and meaningful progression.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 are players who enjoy arcade-style survival gameplay and roguelite elements.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CIS354, the project also had to demonstrate SDLC execution, planning discipline, testing evidence, and honest reflection.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was done on Windows using Godot 4 and GDScript, delivered as `Game/Project7.exe`.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systems include movement/dash, melee+ranged combat, enemy variants, wave progression, passives/level-ups, shop economy, menus, save/load, </a:t>
            </a:r>
            <a:r>
              <a:rPr lang="en-US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HUD, and audio feedback.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player scenario walkthrough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0972800" cy="5303520"/>
          </a:xfrm>
          <a:prstGeom prst="roundRect">
            <a:avLst>
              <a:gd name="adj" fmla="val 862"/>
            </a:avLst>
          </a:prstGeom>
          <a:solidFill>
            <a:srgbClr val="FCEFF1"/>
          </a:solidFill>
          <a:ln w="12700">
            <a:solidFill>
              <a:srgbClr val="E8C8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91739"/>
            <a:ext cx="5120640" cy="32918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from main menu and start a run.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wave combat: movement, dash, melee/ranged attacks, enemy pressure.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currency pickup and between-wave shop decisions (lock/refresh/combine).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progression behavior (end-of-wave level-up and passive choices).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late-wave pressure and finish with victory/game-over flow.</a:t>
            </a:r>
          </a:p>
          <a:p>
            <a:pPr>
              <a:buSzPct val="100000"/>
            </a:pPr>
            <a:endParaRPr lang="en-US" sz="1500" dirty="0">
              <a:solidFill>
                <a:srgbClr val="2E222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interaction: save/load uses local JSON state.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integration: HUD, audio cues, wave pacing, and pause behavior.</a:t>
            </a:r>
            <a:endParaRPr lang="en-US" sz="1500" dirty="0"/>
          </a:p>
          <a:p>
            <a:pPr marL="203200" indent="-203200">
              <a:buSzPct val="100000"/>
              <a:buChar char="•"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754880" cy="452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972800" cy="29747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system was the biggest challenge (13.00h actual vs 4.00h estimated, +9.00h). Rerolls, locks, combines, and between-wave transitions created more challenges than anticipated. Most of the extra time consumption was due to my continued expansion of shop features (lock, reroll, combine, passive bar, and stats).</a:t>
            </a:r>
          </a:p>
          <a:p>
            <a:pPr marL="203200" indent="-203200">
              <a:buSzPct val="100000"/>
              <a:buChar char="•"/>
            </a:pP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Passives/Levelup required more iteration than expected (9.00h vs 4.00h, +5.00h). Implementing and balancing upgrades for the character and for the shop was more difficult and time consuming than expected. This feature require a lot of testing to make passives </a:t>
            </a:r>
            <a:r>
              <a:rPr lang="en-US" sz="170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meaningful.</a:t>
            </a:r>
            <a:endParaRPr lang="en-US" sz="1700" dirty="0">
              <a:solidFill>
                <a:srgbClr val="2E222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03200" indent="-203200">
              <a:buSzPct val="100000"/>
              <a:buChar char="•"/>
            </a:pPr>
            <a:endParaRPr lang="en-US" sz="1700" dirty="0"/>
          </a:p>
          <a:p>
            <a:pPr marL="203200" indent="-203200">
              <a:buSzPct val="100000"/>
              <a:buChar char="•"/>
            </a:pP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Review (Actual vs Estimated)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657600" cy="1143000"/>
          </a:xfrm>
          <a:prstGeom prst="roundRect">
            <a:avLst>
              <a:gd name="adj" fmla="val 3200"/>
            </a:avLst>
          </a:prstGeom>
          <a:solidFill>
            <a:srgbClr val="FCEFF1"/>
          </a:solidFill>
          <a:ln w="12700">
            <a:solidFill>
              <a:srgbClr val="E8C8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68680" y="1353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1D2A"/>
                </a:solidFill>
              </a:rPr>
              <a:t>Estimated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572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1D2A"/>
                </a:solidFill>
              </a:rPr>
              <a:t>84.50h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657600" cy="1143000"/>
          </a:xfrm>
          <a:prstGeom prst="roundRect">
            <a:avLst>
              <a:gd name="adj" fmla="val 3200"/>
            </a:avLst>
          </a:prstGeom>
          <a:solidFill>
            <a:srgbClr val="FBEFF2"/>
          </a:solidFill>
          <a:ln w="12700">
            <a:solidFill>
              <a:srgbClr val="E6C3C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709160" y="13533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3447"/>
                </a:solidFill>
              </a:rPr>
              <a:t>Actual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572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33447"/>
                </a:solidFill>
              </a:rPr>
              <a:t>71.00h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366760" y="1143000"/>
            <a:ext cx="3154680" cy="1143000"/>
          </a:xfrm>
          <a:prstGeom prst="roundRect">
            <a:avLst>
              <a:gd name="adj" fmla="val 3200"/>
            </a:avLst>
          </a:prstGeom>
          <a:solidFill>
            <a:srgbClr val="F9F0EB"/>
          </a:solidFill>
          <a:ln w="12700">
            <a:solidFill>
              <a:srgbClr val="E9CFC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8549640" y="1353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0F1C"/>
                </a:solidFill>
              </a:rPr>
              <a:t>Variance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A0F1C"/>
                </a:solidFill>
              </a:rPr>
              <a:t>-13.50h (under)</a:t>
            </a:r>
            <a:endParaRPr lang="en-US" sz="2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868680" y="256032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5577840" y="26974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0F1C"/>
                </a:solidFill>
              </a:rPr>
              <a:t>Largest Overruns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577840" y="29718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Shop System: +9.00h (13.00h/4.00h)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Passives / Levelup: +5.00h (9.00h/4.00h)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Enemy Spawning: +1.00h (4.00h/3.00h)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77840" y="45262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1D2C"/>
                </a:solidFill>
              </a:rPr>
              <a:t>Largest Underruns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577840" y="4800600"/>
            <a:ext cx="5669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Enemy Variants: -5.00h (3.00h/8.00h)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Performance: -3.00h (0.00h/3.00h)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Player Movement: -3.00h (5.00h/8.00h)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577840" cy="5257800"/>
          </a:xfrm>
          <a:prstGeom prst="roundRect">
            <a:avLst>
              <a:gd name="adj" fmla="val 870"/>
            </a:avLst>
          </a:prstGeom>
          <a:solidFill>
            <a:srgbClr val="FCEFF1"/>
          </a:solidFill>
          <a:ln w="12700">
            <a:solidFill>
              <a:srgbClr val="E8C8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1D2C"/>
                </a:solidFill>
              </a:rPr>
              <a:t>What Was Completed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5074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</a:rPr>
              <a:t>Development tasks completed: 27/27.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</a:rPr>
              <a:t>By Week 10, core gameplay and major systems were complete, so the final phase shifted to testing and documentation.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</a:rPr>
              <a:t>Final deliverables include a playable Windows build plus testing, retrospective, and budget artifacts.</a:t>
            </a:r>
          </a:p>
          <a:p>
            <a:pPr>
              <a:buSzPct val="100000"/>
            </a:pPr>
            <a:endParaRPr lang="en-US" sz="1500" dirty="0"/>
          </a:p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E2225"/>
                </a:solidFill>
              </a:rPr>
              <a:t>Testing outcomes: 35 executions (32 passed, 2 blocked, 1 failed).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4203892943"/>
              </p:ext>
            </p:extLst>
          </p:nvPr>
        </p:nvGraphicFramePr>
        <p:xfrm>
          <a:off x="6355080" y="1417320"/>
          <a:ext cx="470916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355080" y="379476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37960" y="41605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0F1C"/>
                </a:solidFill>
              </a:rPr>
              <a:t>What Remained Incomplete Or Simplified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4480560"/>
            <a:ext cx="4572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Environment / Background (Blocked): Hazards will not be implemented in final version.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Levelup (Blocked): Basic levelup system that occurs on end of wave will be the final version for the game.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2E2225"/>
                </a:solidFill>
              </a:rPr>
              <a:t>Game Over Screen (Failed): Game over screen will not include stats in final version.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Factors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972800" cy="3680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went well because the structure stayed flexible enough to keep adding, testing, and changing features as development progressed.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 scene/component approach in Godot reduced implementation friction and made systems reusable.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scope management protected delivery: when features risked overruns, I simplified or deferred instead of expanding indefinitely.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checkpoints, weekly notes, patch notes, and test workbooks kept progress and tradeoffs visible.</a:t>
            </a:r>
          </a:p>
          <a:p>
            <a:pPr>
              <a:buSzPct val="100000"/>
            </a:pP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2E2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core systems early created enough runway for testing, documentation, and final presentation readiness.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And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440680" cy="5303520"/>
          </a:xfrm>
          <a:prstGeom prst="roundRect">
            <a:avLst>
              <a:gd name="adj" fmla="val 862"/>
            </a:avLst>
          </a:prstGeom>
          <a:solidFill>
            <a:srgbClr val="FCEFF1"/>
          </a:solidFill>
          <a:ln w="12700">
            <a:solidFill>
              <a:srgbClr val="E8C8C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1D2C"/>
                </a:solidFill>
              </a:rPr>
              <a:t>What I Would Change Next Time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983480" cy="2933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I would define architecture boundaries for progression, shop, and menu state earlier to reduce late-stage coupling</a:t>
            </a:r>
          </a:p>
          <a:p>
            <a:pPr>
              <a:buSzPct val="100000"/>
            </a:pPr>
            <a:r>
              <a:rPr lang="en-US" sz="1400" dirty="0">
                <a:solidFill>
                  <a:srgbClr val="2E2225"/>
                </a:solidFill>
              </a:rPr>
              <a:t>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I would estimate by risk class, not just feature labels, because UI/state-heavy systems need larger uncertainty buffers.</a:t>
            </a:r>
          </a:p>
          <a:p>
            <a:pPr>
              <a:buSzPct val="100000"/>
            </a:pP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I would schedule integration checkpoints earlier so hidden interaction issues appear before final-week pressure.</a:t>
            </a:r>
          </a:p>
          <a:p>
            <a:pPr>
              <a:buSzPct val="100000"/>
            </a:pP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I would start structured execution and lightweight regression checklists earlier in the cycle.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234440"/>
            <a:ext cx="5120640" cy="5303520"/>
          </a:xfrm>
          <a:prstGeom prst="roundRect">
            <a:avLst>
              <a:gd name="adj" fmla="val 893"/>
            </a:avLst>
          </a:prstGeom>
          <a:solidFill>
            <a:srgbClr val="F9F0EB"/>
          </a:solidFill>
          <a:ln w="12700">
            <a:solidFill>
              <a:srgbClr val="E9CFC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6629400" y="14173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A0F1C"/>
                </a:solidFill>
              </a:rPr>
              <a:t>Professional Takeaway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182880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E2225"/>
                </a:solidFill>
              </a:rPr>
              <a:t>I am satisfied with the final product and process outcome. </a:t>
            </a:r>
          </a:p>
          <a:p>
            <a:pPr marL="0" indent="0">
              <a:buNone/>
            </a:pPr>
            <a:endParaRPr lang="en-US" sz="1500" dirty="0">
              <a:solidFill>
                <a:srgbClr val="2E2225"/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E2225"/>
                </a:solidFill>
              </a:rPr>
              <a:t>The most valuable lesson was that estimation accuracy depends more on interaction complexity than on feature count.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A0F1C"/>
                </a:solidFill>
              </a:rPr>
              <a:t>Next Project Focus Areas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3840480"/>
            <a:ext cx="4572000" cy="14363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Earlier architecture guardrails for state-heavy systems.</a:t>
            </a:r>
          </a:p>
          <a:p>
            <a:pPr>
              <a:buSzPct val="100000"/>
            </a:pP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More formal external tester handoff timing.</a:t>
            </a:r>
          </a:p>
          <a:p>
            <a:pPr>
              <a:buSzPct val="100000"/>
            </a:pP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E2225"/>
                </a:solidFill>
              </a:rPr>
              <a:t>Automated or checklist-driven regression support.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35D6DE-67DC-7F5C-765F-052398F2F815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8F1D2C"/>
          </a:solidFill>
          <a:ln w="12700">
            <a:solidFill>
              <a:srgbClr val="8F1D2C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EE50C7A-91CA-046C-D763-746B8002D5D2}"/>
              </a:ext>
            </a:extLst>
          </p:cNvPr>
          <p:cNvSpPr/>
          <p:nvPr/>
        </p:nvSpPr>
        <p:spPr>
          <a:xfrm>
            <a:off x="457200" y="1463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7</a:t>
            </a:r>
            <a:endParaRPr lang="en-US" sz="24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41CAE11-8436-1BCB-35DB-74856F2FAA3D}"/>
              </a:ext>
            </a:extLst>
          </p:cNvPr>
          <p:cNvSpPr/>
          <p:nvPr/>
        </p:nvSpPr>
        <p:spPr>
          <a:xfrm>
            <a:off x="822960" y="1828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Project 7 - Final Presentation</a:t>
            </a:r>
            <a:endParaRPr lang="en-US" sz="3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E962B08-DBCD-BA81-E0A9-74EBF3374C78}"/>
              </a:ext>
            </a:extLst>
          </p:cNvPr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64957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792</Words>
  <Application>Microsoft Office PowerPoint</Application>
  <PresentationFormat>Widescreen</PresentationFormat>
  <Paragraphs>105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CIS354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7 - Wave-Based Survival Game</dc:title>
  <dc:subject>Project 7 Final Presentation</dc:subject>
  <dc:creator>Stephen Wilton</dc:creator>
  <cp:lastModifiedBy>Wilton, Stephen</cp:lastModifiedBy>
  <cp:revision>6</cp:revision>
  <dcterms:created xsi:type="dcterms:W3CDTF">2026-04-16T01:22:54Z</dcterms:created>
  <dcterms:modified xsi:type="dcterms:W3CDTF">2026-04-16T02:19:49Z</dcterms:modified>
</cp:coreProperties>
</file>